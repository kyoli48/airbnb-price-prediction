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e8RHjxBltXQ6dXFYPVATLjiFH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Oswa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Bertram</a:t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Bertram</a:t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82f0cff0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82f0cff0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Bertram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Josh</a:t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Josh</a:t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2f0cff02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2f0cff0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Josh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82f0cff02_0_7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82f0cff02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Arda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Arda</a:t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Arda</a:t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2f0cff0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Alphonsus</a:t>
            </a:r>
            <a:endParaRPr/>
          </a:p>
        </p:txBody>
      </p:sp>
      <p:sp>
        <p:nvSpPr>
          <p:cNvPr id="125" name="Google Shape;125;g3d82f0cff0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Alphonsus</a:t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d82f0cff02_0_711"/>
          <p:cNvGrpSpPr/>
          <p:nvPr/>
        </p:nvGrpSpPr>
        <p:grpSpPr>
          <a:xfrm>
            <a:off x="5800234" y="3807170"/>
            <a:ext cx="591423" cy="140843"/>
            <a:chOff x="4137525" y="2915950"/>
            <a:chExt cx="869100" cy="207000"/>
          </a:xfrm>
        </p:grpSpPr>
        <p:sp>
          <p:nvSpPr>
            <p:cNvPr id="11" name="Google Shape;11;g3d82f0cff02_0_711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d82f0cff02_0_711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d82f0cff02_0_711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d82f0cff02_0_711"/>
          <p:cNvSpPr txBox="1"/>
          <p:nvPr>
            <p:ph type="ctrTitle"/>
          </p:nvPr>
        </p:nvSpPr>
        <p:spPr>
          <a:xfrm>
            <a:off x="895010" y="1321067"/>
            <a:ext cx="10401900" cy="2306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g3d82f0cff02_0_711"/>
          <p:cNvSpPr txBox="1"/>
          <p:nvPr>
            <p:ph idx="1" type="subTitle"/>
          </p:nvPr>
        </p:nvSpPr>
        <p:spPr>
          <a:xfrm>
            <a:off x="895000" y="4233168"/>
            <a:ext cx="104019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d82f0cff02_0_71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82f0cff02_0_719"/>
          <p:cNvSpPr txBox="1"/>
          <p:nvPr>
            <p:ph type="title"/>
          </p:nvPr>
        </p:nvSpPr>
        <p:spPr>
          <a:xfrm>
            <a:off x="895000" y="2855000"/>
            <a:ext cx="10469700" cy="1148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d82f0cff02_0_719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82f0cff02_0_7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g3d82f0cff02_0_7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d82f0cff02_0_722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82f0cff02_0_7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g3d82f0cff02_0_72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d82f0cff02_0_72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d82f0cff02_0_726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82f0cff02_0_7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1" name="Google Shape;31;g3d82f0cff02_0_73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82f0cff02_0_73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d82f0cff02_0_73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d82f0cff02_0_734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82f0cff02_0_738"/>
          <p:cNvSpPr txBox="1"/>
          <p:nvPr>
            <p:ph type="title"/>
          </p:nvPr>
        </p:nvSpPr>
        <p:spPr>
          <a:xfrm>
            <a:off x="653667" y="701800"/>
            <a:ext cx="83028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3d82f0cff02_0_73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82f0cff02_0_74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d82f0cff02_0_741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d82f0cff02_0_741"/>
          <p:cNvSpPr txBox="1"/>
          <p:nvPr>
            <p:ph type="title"/>
          </p:nvPr>
        </p:nvSpPr>
        <p:spPr>
          <a:xfrm>
            <a:off x="354000" y="1441867"/>
            <a:ext cx="5393700" cy="2280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3" name="Google Shape;43;g3d82f0cff02_0_741"/>
          <p:cNvSpPr txBox="1"/>
          <p:nvPr>
            <p:ph idx="1" type="subTitle"/>
          </p:nvPr>
        </p:nvSpPr>
        <p:spPr>
          <a:xfrm>
            <a:off x="354000" y="37936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d82f0cff02_0_741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d82f0cff02_0_74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d82f0cff02_0_748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g3d82f0cff02_0_74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82f0cff02_0_751"/>
          <p:cNvSpPr txBox="1"/>
          <p:nvPr>
            <p:ph hasCustomPrompt="1" type="title"/>
          </p:nvPr>
        </p:nvSpPr>
        <p:spPr>
          <a:xfrm>
            <a:off x="415600" y="1673700"/>
            <a:ext cx="11360700" cy="2520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1" name="Google Shape;51;g3d82f0cff02_0_751"/>
          <p:cNvSpPr txBox="1"/>
          <p:nvPr>
            <p:ph idx="1" type="body"/>
          </p:nvPr>
        </p:nvSpPr>
        <p:spPr>
          <a:xfrm>
            <a:off x="415600" y="43045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d82f0cff02_0_75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82f0cff02_0_75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2f0cff02_0_7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7" name="Google Shape;57;g3d82f0cff02_0_75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g3d82f0cff02_0_7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d82f0cff02_0_7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d82f0cff02_0_7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d82f0cff02_0_70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d82f0cff02_0_70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verage"/>
              <a:buChar char="●"/>
              <a:defRPr sz="24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g3d82f0cff02_0_707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895010" y="1321067"/>
            <a:ext cx="104019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AirBnb Price Prediction</a:t>
            </a:r>
            <a:endParaRPr/>
          </a:p>
        </p:txBody>
      </p:sp>
      <p:sp>
        <p:nvSpPr>
          <p:cNvPr id="66" name="Google Shape;66;p1"/>
          <p:cNvSpPr txBox="1"/>
          <p:nvPr>
            <p:ph idx="1" type="subTitle"/>
          </p:nvPr>
        </p:nvSpPr>
        <p:spPr>
          <a:xfrm>
            <a:off x="895000" y="4233168"/>
            <a:ext cx="104019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Alphonsus Koong, Josh Wahl, Arda Kurama, Joseph Bertram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04/21/2026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Short-term rental pricing is complex and location-dependent</a:t>
            </a:r>
            <a:endParaRPr sz="2600"/>
          </a:p>
          <a:p>
            <a:pPr indent="-114300" lvl="0" marL="228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00"/>
              <a:t>Listings vary by:</a:t>
            </a:r>
            <a:endParaRPr sz="2600"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-US" sz="2600"/>
              <a:t>location</a:t>
            </a:r>
            <a:endParaRPr sz="2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2600"/>
              <a:t>room type</a:t>
            </a:r>
            <a:endParaRPr sz="2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2600"/>
              <a:t>availability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2600"/>
              <a:t>Goal: understand factors that influence pricing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82f0cff02_0_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Definition</a:t>
            </a:r>
            <a:endParaRPr/>
          </a:p>
        </p:txBody>
      </p:sp>
      <p:sp>
        <p:nvSpPr>
          <p:cNvPr id="78" name="Google Shape;78;g3d82f0cff02_0_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Task: Predict Airbnb listing price</a:t>
            </a:r>
            <a:endParaRPr sz="2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Ty</a:t>
            </a:r>
            <a:r>
              <a:rPr lang="en-US" sz="2600"/>
              <a:t>p</a:t>
            </a:r>
            <a:r>
              <a:rPr lang="en-US" sz="2600"/>
              <a:t>e: Regression</a:t>
            </a:r>
            <a:endParaRPr sz="2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Target variable: price (continuous)</a:t>
            </a:r>
            <a:endParaRPr sz="2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600"/>
              <a:t>Input: listing features (location, reviews, policies, etc.)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Related Work</a:t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838200" y="1825625"/>
            <a:ext cx="10515600" cy="4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Airbnb pricing widely studied using </a:t>
            </a:r>
            <a:r>
              <a:rPr lang="en-US" sz="2600"/>
              <a:t>regression</a:t>
            </a:r>
            <a:endParaRPr sz="2600"/>
          </a:p>
          <a:p>
            <a:pPr indent="-50800" lvl="0" marL="228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00"/>
              <a:t>Approaches used by NYC Airbnb price prediction(Wei 2025)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Linear regression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Decision Tree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Random forest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Extreme Gradient boosting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/>
              <a:t>Found data is highly right skewed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Room type heavily influenced price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600"/>
              <a:t>Tree Models </a:t>
            </a:r>
            <a:r>
              <a:rPr lang="en-US" sz="2600"/>
              <a:t>outperformed</a:t>
            </a:r>
            <a:r>
              <a:rPr lang="en-US" sz="2600"/>
              <a:t> linear models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228600" rtl="0" algn="l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-US" sz="2600"/>
              <a:t>Dataset: U.S. Airbnb Open Data</a:t>
            </a:r>
            <a:endParaRPr sz="2600"/>
          </a:p>
          <a:p>
            <a:pPr indent="-304800" lvl="0" marL="2286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-US" sz="2600"/>
              <a:t>~200,000 listings</a:t>
            </a:r>
            <a:endParaRPr sz="2600"/>
          </a:p>
          <a:p>
            <a:pPr indent="-304800" lvl="0" marL="2286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-US" sz="2600"/>
              <a:t>Each row = one listing</a:t>
            </a:r>
            <a:endParaRPr sz="2600"/>
          </a:p>
          <a:p>
            <a:pPr indent="-304800" lvl="0" marL="2286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-US" sz="2600"/>
              <a:t>Static dataset (2023)</a:t>
            </a:r>
            <a:endParaRPr sz="2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91" name="Google Shape;9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8875" y="2386050"/>
            <a:ext cx="5268600" cy="16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82f0cff02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Features</a:t>
            </a:r>
            <a:endParaRPr/>
          </a:p>
        </p:txBody>
      </p:sp>
      <p:sp>
        <p:nvSpPr>
          <p:cNvPr id="97" name="Google Shape;97;g3d82f0cff02_0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Location: latitude, longitude, neighborhood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Property: room_type, minimum_nights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Reviews: number_of_reviews, reviews_per_month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600"/>
              <a:t>Host: listings_count</a:t>
            </a:r>
            <a:endParaRPr sz="2600"/>
          </a:p>
        </p:txBody>
      </p:sp>
      <p:pic>
        <p:nvPicPr>
          <p:cNvPr id="98" name="Google Shape;98;g3d82f0cff02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6475" y="3429325"/>
            <a:ext cx="5295525" cy="34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82f0cff02_0_7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Target</a:t>
            </a:r>
            <a:endParaRPr/>
          </a:p>
        </p:txBody>
      </p:sp>
      <p:sp>
        <p:nvSpPr>
          <p:cNvPr id="104" name="Google Shape;104;g3d82f0cff02_0_76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00"/>
              <a:t>Price (continuous numeric variable)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00"/>
              <a:t>Right-skewed distribution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00"/>
              <a:t>Few high-price outliers</a:t>
            </a:r>
            <a:endParaRPr sz="2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g3d82f0cff02_0_7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350" y="0"/>
            <a:ext cx="5068649" cy="334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d82f0cff02_0_7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3350" y="3474107"/>
            <a:ext cx="5068650" cy="3383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Modeling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359425" y="1799725"/>
            <a:ext cx="4626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Linear Regression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Simple and Interpretable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Assumes Linear Relationship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Random Forest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Captures nonlinearity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Robust to outliers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Gradient Boosting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Build models sequentially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Handles complex feature </a:t>
            </a:r>
            <a:r>
              <a:rPr lang="en-US"/>
              <a:t>interactions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425" y="1552275"/>
            <a:ext cx="7442974" cy="41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838200" y="1825625"/>
            <a:ext cx="6243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Strong asymmetry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When the model is wrong, it’s usually because it predicted too low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It underestimates much more than it overestimates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Error grows with price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922" y="3425425"/>
            <a:ext cx="6719077" cy="343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3916" y="0"/>
            <a:ext cx="4898080" cy="325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425427"/>
            <a:ext cx="5141574" cy="3432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82f0cff02_1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128" name="Google Shape;128;g3d82f0cff02_1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Baseline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Preliminary results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9" name="Google Shape;129;g3d82f0cff02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0978"/>
            <a:ext cx="12192000" cy="430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Discussion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838200" y="1825625"/>
            <a:ext cx="5850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</a:t>
            </a:r>
            <a:r>
              <a:rPr lang="en-US"/>
              <a:t>ocation and room type are the dominant drivers of price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Model performs well on typical listings but consistently underestimates high priced listings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Useful for baseline pricing but limited on outliers due to skewed data and compressed predictions</a:t>
            </a:r>
            <a:endParaRPr/>
          </a:p>
        </p:txBody>
      </p:sp>
      <p:pic>
        <p:nvPicPr>
          <p:cNvPr id="136" name="Google Shape;13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8800" y="1591994"/>
            <a:ext cx="5503200" cy="367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2023-09-26T14:42:44Z</dcterms:created>
  <dc:creator>Diego Gomez-Zara</dc:creator>
</cp:coreProperties>
</file>